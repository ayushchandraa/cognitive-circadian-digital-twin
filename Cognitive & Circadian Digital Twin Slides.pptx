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  <ns0:regular ns1:id="rIdFont15"/>
    </ns0:embeddedFont>
    <ns0:embeddedFont>
      <ns0:font typeface="Space Grotesk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8a594bb0-490c-4f56-87da-66caa2327913.fntdata" /><ns0:Relationship Id="rIdFont15" Type="http://schemas.openxmlformats.org/officeDocument/2006/relationships/font" Target="fonts/e8441d4e-532e-468c-987f-6609a236e711.fntdata" /><ns0:Relationship Id="rIdFont16" Type="http://schemas.openxmlformats.org/officeDocument/2006/relationships/font" Target="fonts/19f01eb5-7176-492c-93c4-7e30e430fc0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39325" y="609600"/>
            <a:ext cx="1743075" cy="304800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28650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91725" y="666750"/>
            <a:ext cx="1533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Healthcare &amp; Wellness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72754"/>
            <a:ext cx="860107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Cognitive &amp; Circadian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36615"/>
            <a:ext cx="81915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 Dynamic "What-If" Predictive Physiological Simulator Modeling Energy, Caffeine Pharmacokinetics, and Sleep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661987"/>
            <a:ext cx="3464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HAPPIEST HEALTH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19775"/>
            <a:ext cx="1583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Lead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29325"/>
            <a:ext cx="1583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Ayush Chandra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5812" y="5819775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5812" y="6029325"/>
            <a:ext cx="2678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Graphic Era Hill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8325" y="5819775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Proof-of-Concept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8325" y="6029325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Open Source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912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33612"/>
            <a:ext cx="345444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233612"/>
            <a:ext cx="345444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340768"/>
            <a:ext cx="3454449" cy="2195512"/>
          </a:xfrm>
          <a:prstGeom prst="roundRect">
            <a:avLst>
              <a:gd name="adj" fmla="val 694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479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25479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265509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598170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681287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6524" y="2681287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1486" y="2788443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01. CLINICAL CONTEXT &amp;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Limitations of Static Health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1575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Legacy Static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471862"/>
            <a:ext cx="292104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Conventional apps act as passive history books—reporting past metrics ("You slept 6 hours") without modeling future outcomes.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3174" y="31575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Unseen Energy Crash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3174" y="3471862"/>
            <a:ext cx="292104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Behavioral choices like 4 PM caffeine intake degrade adenosine clearance, causing afternoon cognitive dips of up to 35%.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424" y="3264693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Digital Twin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2424" y="3579018"/>
            <a:ext cx="29210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66534"/>
                </a:solidFill>
                <a:latin typeface="Plus Jakarta Sans"/>
              </a:rPr>
              <a:t>Creates a dynamic predictive feedback loop, running real-time "What-If" simulations before habits are locked 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5995987"/>
            <a:ext cx="9358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Strategic Goal: Transition healthcare from reactive tracking to forward-looking physiological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435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AFAFA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79464"/>
            <a:ext cx="2364581" cy="1870471"/>
          </a:xfrm>
          <a:prstGeom prst="roundRect">
            <a:avLst>
              <a:gd name="adj" fmla="val 611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9006" y="2379464"/>
            <a:ext cx="2364581" cy="1870471"/>
          </a:xfrm>
          <a:prstGeom prst="roundRect">
            <a:avLst>
              <a:gd name="adj" fmla="val 6110"/>
            </a:avLst>
          </a:prstGeom>
          <a:solidFill>
            <a:srgbClr val="F0F9FF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48412" y="2379464"/>
            <a:ext cx="2364581" cy="1870471"/>
          </a:xfrm>
          <a:prstGeom prst="roundRect">
            <a:avLst>
              <a:gd name="adj" fmla="val 611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17818" y="2379464"/>
            <a:ext cx="2364581" cy="1870471"/>
          </a:xfrm>
          <a:prstGeom prst="roundRect">
            <a:avLst>
              <a:gd name="adj" fmla="val 6110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2627114"/>
            <a:ext cx="723900" cy="219075"/>
          </a:xfrm>
          <a:prstGeom prst="roundRect">
            <a:avLst>
              <a:gd name="adj" fmla="val 2608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17131" y="2627114"/>
            <a:ext cx="742950" cy="219075"/>
          </a:xfrm>
          <a:prstGeom prst="roundRect">
            <a:avLst>
              <a:gd name="adj" fmla="val 26086"/>
            </a:avLst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6537" y="2627114"/>
            <a:ext cx="742950" cy="219075"/>
          </a:xfrm>
          <a:prstGeom prst="roundRect">
            <a:avLst>
              <a:gd name="adj" fmla="val 2608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55943" y="2627114"/>
            <a:ext cx="752475" cy="219075"/>
          </a:xfrm>
          <a:prstGeom prst="roundRect">
            <a:avLst>
              <a:gd name="adj" fmla="val 26086"/>
            </a:avLst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681" y="3219450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219450"/>
            <a:ext cx="1238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3219450"/>
            <a:ext cx="1238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02. TECHNICAL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System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2665214"/>
            <a:ext cx="628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STAGE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970014"/>
            <a:ext cx="24784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User Biometrics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265289"/>
            <a:ext cx="1983581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Inputs baseline sleep hours, sleep quality factor, screen time, and biological chronotype.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2381" y="2665214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STAGE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7131" y="2970014"/>
            <a:ext cx="24784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Simulation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7131" y="3265289"/>
            <a:ext cx="1983581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0369A1"/>
                </a:solidFill>
                <a:latin typeface="Plus Jakarta Sans"/>
              </a:rPr>
              <a:t>Evaluates 24-hour sinusoidal circadian equations and exponential caffeine clearance decay.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1787" y="2665214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STAGE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6537" y="2970014"/>
            <a:ext cx="24784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Inhibition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6537" y="3265289"/>
            <a:ext cx="1983581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Calculates adenosine blockade and deep sleep disruption penalties across 48 half-hour slots.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1193" y="2665214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Plus Jakarta Sans"/>
              </a:rPr>
              <a:t>STAGE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5943" y="2970014"/>
            <a:ext cx="247843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UI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5943" y="3265289"/>
            <a:ext cx="1983581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15803D"/>
                </a:solidFill>
                <a:latin typeface="Plus Jakarta Sans"/>
              </a:rPr>
              <a:t>Renders Plotly trajectories, target 2 PM focus scores, and automated health advice.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5781675"/>
            <a:ext cx="11344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Bidirectional Feedback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5991225"/>
            <a:ext cx="11344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Adjusting caffeine cutoff automatically re-renders the idealized twin vs current twin overlay in under 50ms.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19775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15480"/>
            <a:ext cx="5372100" cy="2074664"/>
          </a:xfrm>
          <a:prstGeom prst="roundRect">
            <a:avLst>
              <a:gd name="adj" fmla="val 734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418010"/>
            <a:ext cx="5372100" cy="2069603"/>
          </a:xfrm>
          <a:prstGeom prst="roundRect">
            <a:avLst>
              <a:gd name="adj" fmla="val 736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4130"/>
            <a:ext cx="4762500" cy="6155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046660"/>
            <a:ext cx="4762500" cy="61049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2980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592" y="3234630"/>
            <a:ext cx="3300114" cy="23455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0" y="273233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7874" y="3237160"/>
            <a:ext cx="1796950" cy="2294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03. MATHEMATICAL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Algorithmic Engine &amp; Physiological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6019800"/>
            <a:ext cx="2297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Sleep Debt Penalty Matrix: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1875" y="6019800"/>
            <a:ext cx="4810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Space Grotesk"/>
              </a:rPr>
              <a:t>Debt = max(0, 8.0 - (Sleep_Hours × Quality_Factor)) × 6.5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12083"/>
            <a:ext cx="48577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Models natural daily body temperature fluctuations and cortisol peaks across a 24-hour baseline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809553"/>
            <a:ext cx="48577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Simulates blood plasma concentration curve peaking at 1.5 hours followed by exponential half-life decay.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20280"/>
            <a:ext cx="203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CIRCADIAN OSCILLATOR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2722810"/>
            <a:ext cx="2583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CAFFEINE PHARMACOKINETICS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72150"/>
            <a:ext cx="10972800" cy="6286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62212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62212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62212"/>
            <a:ext cx="3505200" cy="1933575"/>
          </a:xfrm>
          <a:prstGeom prst="roundRect">
            <a:avLst>
              <a:gd name="adj" fmla="val 78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972175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04. SIMULATED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Predictive Metrics &amp; Performance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5995987"/>
            <a:ext cx="10691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Outcome Validation: Proves that behavioral interventions scheduled prior to 2 PM restore energy battery scores to &gt;75/100.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356" y="2776537"/>
            <a:ext cx="35956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lus Jakarta Sans"/>
              </a:rPr>
              <a:t>78.0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56" y="350043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Target Afternoon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356" y="3738562"/>
            <a:ext cx="35956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Optimal 2 PM clarity score under healthy sleep schedules.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8156" y="2776537"/>
            <a:ext cx="35956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EF4444"/>
                </a:solidFill>
                <a:latin typeface="Plus Jakarta Sans"/>
              </a:rPr>
              <a:t>-35%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8156" y="350043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Late Caffeine 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156" y="3738562"/>
            <a:ext cx="35956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Average drop in focus caused by stimulants consumed after 4 PM.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1956" y="2776537"/>
            <a:ext cx="35956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Plus Jakarta Sans"/>
              </a:rPr>
              <a:t>&lt;50ms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956" y="3500437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Simulation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956" y="3738562"/>
            <a:ext cx="35956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Instantaneous parameter re-calculation in Python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34025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43175"/>
            <a:ext cx="25717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9950" y="2543175"/>
            <a:ext cx="25717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543175"/>
            <a:ext cx="25717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2543175"/>
            <a:ext cx="2571750" cy="1533525"/>
          </a:xfrm>
          <a:prstGeom prst="roundRect">
            <a:avLst>
              <a:gd name="adj" fmla="val 7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01275" y="5805487"/>
            <a:ext cx="1152525" cy="323850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19400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2819400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819400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2819400"/>
            <a:ext cx="295275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05. TECHNOLOGY &amp;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Modular Architecture &amp; Open Source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1775" y="5881687"/>
            <a:ext cx="866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Public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20040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Python 3.9+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457575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NumPy vectorization for math modeling.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6175" y="320040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Streamlit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6175" y="3457575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Dynamic web dashboard frontend UI.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20040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Plotly Interactive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457575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Interactive 24-hour trajectory graphing.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6875" y="320040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Open Source 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6875" y="3457575"/>
            <a:ext cx="2114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Public repository documentation &amp;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762625"/>
            <a:ext cx="6977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Full Documentation Pack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6000750"/>
            <a:ext cx="697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Includes system architecture diagrams, technical formulas, and video demonstration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38475" y="4167187"/>
            <a:ext cx="611505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38475" y="4167187"/>
            <a:ext cx="61150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4786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00262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08089" y="2557462"/>
            <a:ext cx="657582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Thank You &amp;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290887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Building preventative health solutions through predictive physiological Digital Twins.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121" y="4481512"/>
            <a:ext cx="1583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121" y="4691062"/>
            <a:ext cx="1583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Ayush Chandra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609" y="4481512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4609" y="4691062"/>
            <a:ext cx="26789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Graphic Era Hill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8987" y="4481512"/>
            <a:ext cx="223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8987" y="4691062"/>
            <a:ext cx="223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Plus Jakarta Sans"/>
              </a:rPr>
              <a:t>Happiest Health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